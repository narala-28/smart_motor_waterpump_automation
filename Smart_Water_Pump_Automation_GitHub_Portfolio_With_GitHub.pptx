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9" r:id="rId20"/>
    <p:sldId id="264" r:id="rId15"/>
    <p:sldId id="265" r:id="rId16"/>
    <p:sldId id="266" r:id="rId17"/>
    <p:sldId id="267" r:id="rId18"/>
    <p:sldId id="270" r:id="rId21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9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SMART WATER PUMP</a:t>
            </a:r>
            <a:br/>
            <a:r>
              <a:t>AUTOMATION SYSTEM</a:t>
            </a:r>
          </a:p>
          <a:p>
            <a:pPr>
              <a:spcBef>
                <a:spcPts val="1200"/>
              </a:spcBef>
              <a:defRPr sz="1900">
                <a:solidFill>
                  <a:srgbClr val="C4E6EE"/>
                </a:solidFill>
                <a:latin typeface="Aptos"/>
              </a:defRPr>
            </a:pPr>
            <a:r>
              <a:t>ESP32 + Blynk IoT | Automated 2 HP &amp; 6 HP Pump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886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Narala Heshma Sree</a:t>
            </a:r>
          </a:p>
          <a:p>
            <a:pPr>
              <a:defRPr sz="1300">
                <a:solidFill>
                  <a:srgbClr val="D2DCE4"/>
                </a:solidFill>
              </a:defRPr>
            </a:pPr>
            <a:r>
              <a:t>B.Tech – Electrical &amp; Electronics Engineering | SRM Institute of Science and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4983480"/>
            <a:ext cx="777240" cy="475488"/>
          </a:xfrm>
          <a:prstGeom prst="round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ESP32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4983480"/>
            <a:ext cx="777240" cy="475488"/>
          </a:xfrm>
          <a:prstGeom prst="round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983480"/>
            <a:ext cx="777240" cy="475488"/>
          </a:xfrm>
          <a:prstGeom prst="roundRect">
            <a:avLst/>
          </a:prstGeom>
          <a:solidFill>
            <a:srgbClr val="2A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0" y="4983480"/>
            <a:ext cx="777240" cy="475488"/>
          </a:xfrm>
          <a:prstGeom prst="roundRect">
            <a:avLst/>
          </a:prstGeom>
          <a:solidFill>
            <a:srgbClr val="E1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  <a:latin typeface="Aptos"/>
              </a:defRPr>
            </a:pPr>
            <a:r>
              <a:t>An ESP32-based controller combining water-level sensing, current monitoring, protection and cloud supervision.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Automates and remotely monitors two water pumps: 2 HP and 6 HP.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Core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92807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ESP32 DevKit V1 executes motor-control, sensor-processing and protection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2900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828800"/>
          </a:xfrm>
          <a:prstGeom prst="rect">
            <a:avLst/>
          </a:prstGeom>
          <a:solidFill>
            <a:srgbClr val="2A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IoT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92807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Blynk provides live status, current, runtime, mode and fault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32D37"/>
                </a:solidFill>
                <a:latin typeface="Aptos"/>
              </a:defRPr>
            </a:pPr>
            <a:r>
              <a:t>Automatic and Manual operating modes</a:t>
            </a:r>
          </a:p>
          <a:p>
            <a:pPr>
              <a:spcAft>
                <a:spcPts val="600"/>
              </a:spcAft>
              <a:defRPr sz="1800" b="0">
                <a:solidFill>
                  <a:srgbClr val="232D37"/>
                </a:solidFill>
                <a:latin typeface="Aptos"/>
              </a:defRPr>
            </a:pPr>
            <a:r>
              <a:t>Tank and sump level supervision</a:t>
            </a:r>
          </a:p>
          <a:p>
            <a:pPr>
              <a:spcAft>
                <a:spcPts val="600"/>
              </a:spcAft>
              <a:defRPr sz="1800" b="0">
                <a:solidFill>
                  <a:srgbClr val="232D37"/>
                </a:solidFill>
                <a:latin typeface="Aptos"/>
              </a:defRPr>
            </a:pPr>
            <a:r>
              <a:t>Current-based over-current and dry-run protection</a:t>
            </a:r>
          </a:p>
          <a:p>
            <a:pPr>
              <a:spcAft>
                <a:spcPts val="600"/>
              </a:spcAft>
              <a:defRPr sz="1800" b="0">
                <a:solidFill>
                  <a:srgbClr val="232D37"/>
                </a:solidFill>
                <a:latin typeface="Aptos"/>
              </a:defRPr>
            </a:pPr>
            <a:r>
              <a:t>Maximum runtime, startup and restart delays</a:t>
            </a:r>
          </a:p>
          <a:p>
            <a:pPr>
              <a:spcAft>
                <a:spcPts val="600"/>
              </a:spcAft>
              <a:defRPr sz="1800" b="0">
                <a:solidFill>
                  <a:srgbClr val="232D37"/>
                </a:solidFill>
                <a:latin typeface="Aptos"/>
              </a:defRPr>
            </a:pPr>
            <a:r>
              <a:t>Remote monitoring and event notifications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2.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69164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691640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Remote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92807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Start/stop motors through the IoT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429000" cy="169164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325880"/>
            <a:ext cx="73152" cy="1691640"/>
          </a:xfrm>
          <a:prstGeom prst="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Automatic 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92807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Use tank and sump conditions to make motor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25880"/>
            <a:ext cx="3429000" cy="169164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325880"/>
            <a:ext cx="73152" cy="169164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892807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Detect over-current, dry-run and unsafe water-level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429000" cy="169164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73152" cy="1691640"/>
          </a:xfrm>
          <a:prstGeom prst="rect">
            <a:avLst/>
          </a:prstGeom>
          <a:solidFill>
            <a:srgbClr val="2A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4164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Display motor current, status, runtime and last fault.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474720"/>
            <a:ext cx="3429000" cy="169164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474720"/>
            <a:ext cx="73152" cy="1691640"/>
          </a:xfrm>
          <a:prstGeom prst="rect">
            <a:avLst/>
          </a:prstGeom>
          <a:solidFill>
            <a:srgbClr val="E1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Connected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04164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Maintain Wi-Fi/Blynk communication for remote supervision.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474720"/>
            <a:ext cx="3429000" cy="169164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474720"/>
            <a:ext cx="73152" cy="1691640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Service Flexibility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04164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Provide controlled protection-bypass options for testing/service.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  <a:latin typeface="Aptos"/>
              </a:defRPr>
            </a:pPr>
            <a:r>
              <a:t>Data flows from sensors to the ESP32, while commands and status are exchanged through Blynk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234440"/>
            <a:ext cx="2926080" cy="640080"/>
          </a:xfrm>
          <a:prstGeom prst="round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Blynk Cloud /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423160"/>
            <a:ext cx="2926080" cy="731520"/>
          </a:xfrm>
          <a:prstGeom prst="round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ESP32 DevKit 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86200"/>
            <a:ext cx="2560320" cy="822960"/>
          </a:xfrm>
          <a:prstGeom prst="roundRect">
            <a:avLst/>
          </a:prstGeom>
          <a:solidFill>
            <a:srgbClr val="2A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Tank / Sump</a:t>
            </a:r>
            <a:br/>
            <a:r>
              <a:t>Float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886200"/>
            <a:ext cx="2560320" cy="822960"/>
          </a:xfrm>
          <a:prstGeom prst="roundRect">
            <a:avLst/>
          </a:prstGeom>
          <a:solidFill>
            <a:srgbClr val="E1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SCT Current</a:t>
            </a:r>
            <a:br/>
            <a:r>
              <a:t>Sensors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886200"/>
            <a:ext cx="2560320" cy="822960"/>
          </a:xfrm>
          <a:prstGeom prst="round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Relay / Contactor</a:t>
            </a:r>
            <a:br/>
            <a:r>
              <a:t>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3886200"/>
            <a:ext cx="2057400" cy="82296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HP / 6 HP</a:t>
            </a:r>
            <a:br/>
            <a:r>
              <a:t>Water Pumps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874519"/>
            <a:ext cx="0" cy="548641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194560" y="3154680"/>
            <a:ext cx="3108960" cy="73152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20640" y="3154680"/>
            <a:ext cx="640080" cy="73152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3154680"/>
            <a:ext cx="1554480" cy="73152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4297680"/>
            <a:ext cx="3200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9244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Wi-Fi / Blynk communication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4. Hardware &amp; Software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12080" cy="448056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480560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0136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• ESP32 DevKit V1</a:t>
            </a:r>
            <a:br/>
            <a:r>
              <a:t>• SCT current sensors ×2</a:t>
            </a:r>
            <a:br/>
            <a:r>
              <a:t>• Float switches ×4</a:t>
            </a:r>
            <a:br/>
            <a:r>
              <a:t>• Relay interface</a:t>
            </a:r>
            <a:br/>
            <a:r>
              <a:t>• Motor contactors</a:t>
            </a:r>
            <a:br/>
            <a:r>
              <a:t>• Wi-Fi router</a:t>
            </a:r>
            <a:br/>
            <a:r>
              <a:t>• 2 HP &amp; 6 HP pumps</a:t>
            </a:r>
            <a:br/>
            <a:r>
              <a:t>• Isolated low-voltage control supply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12080" cy="448056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73152" cy="4480560"/>
          </a:xfrm>
          <a:prstGeom prst="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807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Software / 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801368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• Arduino IDE</a:t>
            </a:r>
            <a:br/>
            <a:r>
              <a:t>• Embedded C++</a:t>
            </a:r>
            <a:br/>
            <a:r>
              <a:t>• ESP32 Arduino core</a:t>
            </a:r>
            <a:br/>
            <a:r>
              <a:t>• Blynk IoT</a:t>
            </a:r>
            <a:br/>
            <a:r>
              <a:t>• EmonLib for RMS current calculation</a:t>
            </a:r>
            <a:br/>
            <a:r>
              <a:t>• BlynkTimer for periodic tasks</a:t>
            </a:r>
            <a:br/>
            <a:r>
              <a:t>• Virtual pins for dashboard control/status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5. Motor Automation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49240" cy="438912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4389120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2 HP Pump — Automatic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01368"/>
            <a:ext cx="498347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Tank LOW</a:t>
            </a:r>
            <a:br/>
            <a:r>
              <a:t>      ↓</a:t>
            </a:r>
            <a:br/>
            <a:r>
              <a:t>Start 2 HP</a:t>
            </a:r>
            <a:br/>
            <a:r>
              <a:t>      ↓</a:t>
            </a:r>
            <a:br/>
            <a:r>
              <a:t>Monitor current &amp; protection</a:t>
            </a:r>
            <a:br/>
            <a:r>
              <a:t>      ↓</a:t>
            </a:r>
            <a:br/>
            <a:r>
              <a:t>Tank FULL → Stop</a:t>
            </a:r>
            <a:br/>
            <a:br/>
            <a:r>
              <a:t>Additional trips:</a:t>
            </a:r>
            <a:br/>
            <a:r>
              <a:t>• Over Current</a:t>
            </a:r>
            <a:br/>
            <a:r>
              <a:t>• Dry Run Current</a:t>
            </a:r>
            <a:br/>
            <a:r>
              <a:t>• Sump Dry</a:t>
            </a:r>
            <a:br/>
            <a:r>
              <a:t>• Maximum 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49240" cy="438912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73152" cy="4389120"/>
          </a:xfrm>
          <a:prstGeom prst="rect">
            <a:avLst/>
          </a:prstGeom>
          <a:solidFill>
            <a:srgbClr val="2A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38074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6 HP Pump — Automatic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01368"/>
            <a:ext cx="498347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Sump DRY + Sump not FULL</a:t>
            </a:r>
            <a:br/>
            <a:r>
              <a:t>      ↓</a:t>
            </a:r>
            <a:br/>
            <a:r>
              <a:t>Start 6 HP</a:t>
            </a:r>
            <a:br/>
            <a:r>
              <a:t>      ↓</a:t>
            </a:r>
            <a:br/>
            <a:r>
              <a:t>Monitor current &amp; protection</a:t>
            </a:r>
            <a:br/>
            <a:r>
              <a:t>      ↓</a:t>
            </a:r>
            <a:br/>
            <a:r>
              <a:t>Sump FULL → Stop</a:t>
            </a:r>
            <a:br/>
            <a:br/>
            <a:r>
              <a:t>Additional trips:</a:t>
            </a:r>
            <a:br/>
            <a:r>
              <a:t>• Over Current</a:t>
            </a:r>
            <a:br/>
            <a:r>
              <a:t>• Dry Run Current</a:t>
            </a:r>
            <a:br/>
            <a:r>
              <a:t>• Maximum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6. Protection &amp;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  <a:latin typeface="Aptos"/>
              </a:defRPr>
            </a:pPr>
            <a:r>
              <a:t>Configured firmware values — to be verified against the actual motor, sensor calibration and protection requirements before field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789920" cy="438912"/>
          </a:xfrm>
          <a:prstGeom prst="roundRect">
            <a:avLst/>
          </a:prstGeom>
          <a:solidFill>
            <a:srgbClr val="F2F7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9786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Over-current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9786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A42"/>
                </a:solidFill>
              </a:defRPr>
            </a:pPr>
            <a:r>
              <a:t>13.0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197864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2 HP / 6 HP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252728"/>
            <a:ext cx="164592" cy="164592"/>
          </a:xfrm>
          <a:prstGeom prst="ellipse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09928"/>
            <a:ext cx="10789920" cy="438912"/>
          </a:xfrm>
          <a:prstGeom prst="roundRect">
            <a:avLst/>
          </a:prstGeom>
          <a:solidFill>
            <a:srgbClr val="F2F7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6479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Dry-run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6479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A42"/>
                </a:solidFill>
              </a:defRPr>
            </a:pPr>
            <a:r>
              <a:t>1.0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6479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Current based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1819656"/>
            <a:ext cx="164592" cy="164592"/>
          </a:xfrm>
          <a:prstGeom prst="ellipse">
            <a:avLst/>
          </a:prstGeom>
          <a:solidFill>
            <a:srgbClr val="E1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276856"/>
            <a:ext cx="10789920" cy="438912"/>
          </a:xfrm>
          <a:prstGeom prst="roundRect">
            <a:avLst/>
          </a:prstGeom>
          <a:solidFill>
            <a:srgbClr val="F2F7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317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Startup protection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A42"/>
                </a:solidFill>
              </a:defRPr>
            </a:pPr>
            <a:r>
              <a:t>10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Protection inhibited during startup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2386584"/>
            <a:ext cx="164592" cy="164592"/>
          </a:xfrm>
          <a:prstGeom prst="ellipse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2843784"/>
            <a:ext cx="10789920" cy="438912"/>
          </a:xfrm>
          <a:prstGeom prst="roundRect">
            <a:avLst/>
          </a:prstGeom>
          <a:solidFill>
            <a:srgbClr val="F2F7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898648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Over-current confirmation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8986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A42"/>
                </a:solidFill>
              </a:defRPr>
            </a:pPr>
            <a:r>
              <a:t>3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98648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Condition must persist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2953512"/>
            <a:ext cx="164592" cy="164592"/>
          </a:xfrm>
          <a:prstGeom prst="ellipse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410712"/>
            <a:ext cx="10789920" cy="438912"/>
          </a:xfrm>
          <a:prstGeom prst="roundRect">
            <a:avLst/>
          </a:prstGeom>
          <a:solidFill>
            <a:srgbClr val="F2F7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465576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Dry-run 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46557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A42"/>
                </a:solidFill>
              </a:defRPr>
            </a:pPr>
            <a:r>
              <a:t>10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6557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Condition must persist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3520440"/>
            <a:ext cx="164592" cy="164592"/>
          </a:xfrm>
          <a:prstGeom prst="ellipse">
            <a:avLst/>
          </a:prstGeom>
          <a:solidFill>
            <a:srgbClr val="E1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3977639"/>
            <a:ext cx="10789920" cy="438912"/>
          </a:xfrm>
          <a:prstGeom prst="roundRect">
            <a:avLst/>
          </a:prstGeom>
          <a:solidFill>
            <a:srgbClr val="F2F7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32503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Restart delay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032503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A42"/>
                </a:solidFill>
              </a:defRPr>
            </a:pPr>
            <a:r>
              <a:t>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032503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Prevents immediate restart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4087368"/>
            <a:ext cx="164592" cy="164592"/>
          </a:xfrm>
          <a:prstGeom prst="ellipse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4544568"/>
            <a:ext cx="10789920" cy="438912"/>
          </a:xfrm>
          <a:prstGeom prst="roundRect">
            <a:avLst/>
          </a:prstGeom>
          <a:solidFill>
            <a:srgbClr val="F2F7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599431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Normal maximum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599431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A42"/>
                </a:solidFill>
              </a:defRPr>
            </a:pPr>
            <a:r>
              <a:t>15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99431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Compile-time setting</a:t>
            </a:r>
          </a:p>
        </p:txBody>
      </p:sp>
      <p:sp>
        <p:nvSpPr>
          <p:cNvPr id="39" name="Oval 38"/>
          <p:cNvSpPr/>
          <p:nvPr/>
        </p:nvSpPr>
        <p:spPr>
          <a:xfrm>
            <a:off x="777240" y="4654296"/>
            <a:ext cx="164592" cy="164592"/>
          </a:xfrm>
          <a:prstGeom prst="ellipse">
            <a:avLst/>
          </a:prstGeom>
          <a:solidFill>
            <a:srgbClr val="2A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5111496"/>
            <a:ext cx="10789920" cy="438912"/>
          </a:xfrm>
          <a:prstGeom prst="roundRect">
            <a:avLst/>
          </a:prstGeom>
          <a:solidFill>
            <a:srgbClr val="F2F7FA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6635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Test-mode maximum runtime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166359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A42"/>
                </a:solidFill>
              </a:defRPr>
            </a:pPr>
            <a:r>
              <a:t>50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166359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232D37"/>
                </a:solidFill>
              </a:defRPr>
            </a:pPr>
            <a:r>
              <a:t>Controlled bench testing</a:t>
            </a:r>
          </a:p>
        </p:txBody>
      </p:sp>
      <p:sp>
        <p:nvSpPr>
          <p:cNvPr id="44" name="Oval 43"/>
          <p:cNvSpPr/>
          <p:nvPr/>
        </p:nvSpPr>
        <p:spPr>
          <a:xfrm>
            <a:off x="777240" y="5221224"/>
            <a:ext cx="164592" cy="164592"/>
          </a:xfrm>
          <a:prstGeom prst="ellipse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7. Current Monitoring &amp; Signal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383280" cy="434340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343400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Sensing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0136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SCT current sensors are connected to ESP32 input-only ADC pins:</a:t>
            </a:r>
            <a:br/>
            <a:br/>
            <a:r>
              <a:t>GPIO 34 → 2 HP current</a:t>
            </a:r>
            <a:br/>
            <a:r>
              <a:t>GPIO 35 → 6 HP current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34340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73152" cy="4343400"/>
          </a:xfrm>
          <a:prstGeom prst="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0136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EmonLib calculates RMS current.</a:t>
            </a:r>
            <a:br/>
            <a:br/>
            <a:r>
              <a:t>The firmware then applies:</a:t>
            </a:r>
            <a:br/>
            <a:r>
              <a:t>• Low-level noise suppression</a:t>
            </a:r>
            <a:br/>
            <a:r>
              <a:t>• Low-pass filtering</a:t>
            </a:r>
            <a:br/>
            <a:r>
              <a:t>• Threshold comparison</a:t>
            </a:r>
            <a:br/>
            <a:r>
              <a:t>• Time confirmation before trip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383280" cy="434340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73152" cy="4343400"/>
          </a:xfrm>
          <a:prstGeom prst="rect">
            <a:avLst/>
          </a:prstGeom>
          <a:solidFill>
            <a:srgbClr val="2A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01368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Live current values are sent to Blynk.</a:t>
            </a:r>
            <a:br/>
            <a:br/>
            <a:r>
              <a:t>The dashboard can display:</a:t>
            </a:r>
            <a:br/>
            <a:r>
              <a:t>• 2 HP current</a:t>
            </a:r>
            <a:br/>
            <a:r>
              <a:t>• 6 HP current</a:t>
            </a:r>
            <a:br/>
            <a:r>
              <a:t>• Motor status</a:t>
            </a:r>
            <a:br/>
            <a:r>
              <a:t>• Last fault/status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8. Hardware Implementation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  <a:latin typeface="Aptos"/>
              </a:defRPr>
            </a:pPr>
            <a:r>
              <a:t>Actual motor control panel and ESP32 prototype used for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7150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0" y="1234440"/>
            <a:ext cx="498348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0876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A42"/>
                </a:solidFill>
                <a:latin typeface="Aptos"/>
              </a:defRPr>
            </a:pPr>
            <a:r>
              <a:t>Prototype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057400"/>
            <a:ext cx="4251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ESP32-based control electronics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Motor contactor and control interface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Current-sensing CT/SCT interface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Low-voltage relay/control wiring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Three-phase motor connection section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Prototype wiring used for functional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709160"/>
            <a:ext cx="4251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  <a:latin typeface="Aptos"/>
              </a:defRPr>
            </a:pPr>
            <a:r>
              <a:t>The ESP32/relay section is used as the control layer; motor power circuits require correctly rated contactors, overload/short-circuit protection, isolation and proper earthing.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_B6F594BC-1B8F-4B7E-8D32-F0E7B54CEE6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215" y="1417320"/>
            <a:ext cx="346329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8. Blynk IoT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  <a:latin typeface="Aptos"/>
              </a:defRPr>
            </a:pPr>
            <a:r>
              <a:t>Actual project dashboard screenshots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577840" cy="5166360"/>
          </a:xfrm>
          <a:prstGeom prst="roundRect">
            <a:avLst/>
          </a:prstGeom>
          <a:solidFill>
            <a:srgbClr val="F2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0" y="1143000"/>
            <a:ext cx="5577840" cy="5166360"/>
          </a:xfrm>
          <a:prstGeom prst="roundRect">
            <a:avLst/>
          </a:prstGeom>
          <a:solidFill>
            <a:srgbClr val="F2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56C31678-C9A2-4921-8372-A4613E98EE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615" y="1298448"/>
            <a:ext cx="3600450" cy="4800600"/>
          </a:xfrm>
          <a:prstGeom prst="rect">
            <a:avLst/>
          </a:prstGeom>
        </p:spPr>
      </p:pic>
      <p:pic>
        <p:nvPicPr>
          <p:cNvPr id="8" name="Picture 7" descr="IMG_AB087961-7762-4BE4-94D4-76FB58C3315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175" y="1298448"/>
            <a:ext cx="360045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9. Dashboard Functions Visible in the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5212080" cy="987552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73152" cy="987552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35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AUTO /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5564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Operating mode selection and indication.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212080" cy="987552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73152" cy="987552"/>
          </a:xfrm>
          <a:prstGeom prst="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35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2 HP / 6 HP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75564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Separate motor start/stop controls and running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23160"/>
            <a:ext cx="5212080" cy="987552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423160"/>
            <a:ext cx="73152" cy="987552"/>
          </a:xfrm>
          <a:prstGeom prst="rect">
            <a:avLst/>
          </a:prstGeom>
          <a:solidFill>
            <a:srgbClr val="E1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5694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9008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Live current gauges for both motors.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23160"/>
            <a:ext cx="5212080" cy="987552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423160"/>
            <a:ext cx="73152" cy="987552"/>
          </a:xfrm>
          <a:prstGeom prst="rect">
            <a:avLst/>
          </a:prstGeom>
          <a:solidFill>
            <a:srgbClr val="2A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5694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TANK / SUMP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99008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Level-condition indicators for automation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5212080" cy="987552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73152" cy="987552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803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22452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Motor runtime tracking in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57600"/>
            <a:ext cx="5212080" cy="987552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57600"/>
            <a:ext cx="73152" cy="987552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3803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FAULT /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22452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Last fault/status and protection-related information.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92040"/>
            <a:ext cx="5212080" cy="987552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892040"/>
            <a:ext cx="73152" cy="987552"/>
          </a:xfrm>
          <a:prstGeom prst="rect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0383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BYPASS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45896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Float, over-current and dry-run bypass for controlled service/testing.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892040"/>
            <a:ext cx="5212080" cy="987552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892040"/>
            <a:ext cx="73152" cy="987552"/>
          </a:xfrm>
          <a:prstGeom prst="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50383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CLOUD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5458968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Blynk-based remote dashboard and event notifications.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10. Implementation &amp; Demonstrated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ESP32 firmware integrates motor control, water-level sensing, current measurement and protection logic.</a:t>
            </a:r>
          </a:p>
          <a:p>
            <a:pPr>
              <a:spcAft>
                <a:spcPts val="6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Blynk dashboard provides a single interface for control and real-time status.</a:t>
            </a:r>
          </a:p>
          <a:p>
            <a:pPr>
              <a:spcAft>
                <a:spcPts val="6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The project supports both automatic and manual operation.</a:t>
            </a:r>
          </a:p>
          <a:p>
            <a:pPr>
              <a:spcAft>
                <a:spcPts val="6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The firmware records motor runtime and maintains a last-fault/status indication.</a:t>
            </a:r>
          </a:p>
          <a:p>
            <a:pPr>
              <a:spcAft>
                <a:spcPts val="6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Current sensing uses RMS calculation with filtering to reduce low-level noise.</a:t>
            </a:r>
          </a:p>
          <a:p>
            <a:pPr>
              <a:spcAft>
                <a:spcPts val="6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The repository is structured for documentation, source code, hardware details and future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234440"/>
            <a:ext cx="4206240" cy="713232"/>
          </a:xfrm>
          <a:prstGeom prst="roundRect">
            <a:avLst/>
          </a:prstGeom>
          <a:solidFill>
            <a:srgbClr val="F2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325880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67A3"/>
                </a:solidFill>
              </a:defRPr>
            </a:pPr>
            <a:r>
              <a:t>2 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34416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Pump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148840"/>
            <a:ext cx="4206240" cy="713232"/>
          </a:xfrm>
          <a:prstGeom prst="roundRect">
            <a:avLst/>
          </a:prstGeom>
          <a:solidFill>
            <a:srgbClr val="F2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240280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965E"/>
                </a:solidFill>
              </a:defRPr>
            </a:pPr>
            <a:r>
              <a:t>6 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25856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Pump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063240"/>
            <a:ext cx="4206240" cy="713232"/>
          </a:xfrm>
          <a:prstGeom prst="roundRect">
            <a:avLst/>
          </a:prstGeom>
          <a:solidFill>
            <a:srgbClr val="F2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154680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A4B4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17296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Float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977639"/>
            <a:ext cx="4206240" cy="713232"/>
          </a:xfrm>
          <a:prstGeom prst="roundRect">
            <a:avLst/>
          </a:prstGeom>
          <a:solidFill>
            <a:srgbClr val="F2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069079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1892B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8736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SCT inputs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892040"/>
            <a:ext cx="4206240" cy="713232"/>
          </a:xfrm>
          <a:prstGeom prst="roundRect">
            <a:avLst/>
          </a:prstGeom>
          <a:solidFill>
            <a:srgbClr val="F2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983479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E3737"/>
                </a:solidFill>
              </a:defRPr>
            </a:pPr>
            <a:r>
              <a:t>Blynk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00176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Cloud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11. Future Scope &amp; Developer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486400" cy="443484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434840"/>
          </a:xfrm>
          <a:prstGeom prst="rect">
            <a:avLst/>
          </a:prstGeom>
          <a:solidFill>
            <a:srgbClr val="1C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Future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01368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• Energy measurement</a:t>
            </a:r>
            <a:br/>
            <a:r>
              <a:t>• Power factor monitoring</a:t>
            </a:r>
            <a:br/>
            <a:r>
              <a:t>• Flow sensor integration</a:t>
            </a:r>
            <a:br/>
            <a:r>
              <a:t>• Water consumption logging</a:t>
            </a:r>
            <a:br/>
            <a:r>
              <a:t>• Dedicated web dashboard</a:t>
            </a:r>
            <a:br/>
            <a:r>
              <a:t>• MQTT support</a:t>
            </a:r>
            <a:br/>
            <a:r>
              <a:t>• OTA firmware updates</a:t>
            </a:r>
            <a:br/>
            <a:r>
              <a:t>• GSM/4G backup communication</a:t>
            </a:r>
            <a:br/>
            <a:r>
              <a:t>• Historical cloud data</a:t>
            </a:r>
            <a:br/>
            <a:r>
              <a:t>• Advanced alarm management</a:t>
            </a:r>
            <a:br/>
            <a:r>
              <a:t>• Improved PCB protection and isolation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5074920" cy="443484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2" cy="4434840"/>
          </a:xfrm>
          <a:prstGeom prst="rect">
            <a:avLst/>
          </a:prstGeom>
          <a:solidFill>
            <a:srgbClr val="1B6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380744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2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01368"/>
            <a:ext cx="470915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  <a:latin typeface="Aptos"/>
              </a:defRPr>
            </a:pPr>
            <a:r>
              <a:t>Narala Heshma Sree</a:t>
            </a:r>
            <a:br/>
            <a:r>
              <a:t>B.Tech – Electrical &amp; Electronics Engineering</a:t>
            </a:r>
            <a:br/>
            <a:r>
              <a:t>SRM Institute of Science and Technology</a:t>
            </a:r>
            <a:br/>
            <a:br/>
            <a:r>
              <a:t>Skills demonstrated:</a:t>
            </a:r>
            <a:br/>
            <a:r>
              <a:t>• Embedded C++</a:t>
            </a:r>
            <a:br/>
            <a:r>
              <a:t>• ESP32</a:t>
            </a:r>
            <a:br/>
            <a:r>
              <a:t>• IoT / Blynk</a:t>
            </a:r>
            <a:br/>
            <a:r>
              <a:t>• Electrical automation</a:t>
            </a:r>
            <a:br/>
            <a:r>
              <a:t>• Motor protection</a:t>
            </a:r>
            <a:br/>
            <a:r>
              <a:t>• Sensor interfacing</a:t>
            </a:r>
            <a:br/>
            <a:r>
              <a:t>• Relay control</a:t>
            </a:r>
            <a:br/>
            <a:r>
              <a:t>• Industrial control concepts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57453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AD7E1"/>
                </a:solidFill>
              </a:defRPr>
            </a:pPr>
            <a:r>
              <a:t>PROJECT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Smart Water Pump Automation System</a:t>
            </a:r>
          </a:p>
          <a:p>
            <a:pPr>
              <a:defRPr sz="1700">
                <a:solidFill>
                  <a:srgbClr val="CDE1E8"/>
                </a:solidFill>
              </a:defRPr>
            </a:pPr>
            <a:r>
              <a:t>ESP32 • Embedded C++ • Blynk IoT • Motor Protection •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886200"/>
            <a:ext cx="2514600" cy="1143000"/>
          </a:xfrm>
          <a:prstGeom prst="roundRect">
            <a:avLst/>
          </a:prstGeom>
          <a:solidFill>
            <a:srgbClr val="233D54"/>
          </a:solidFill>
          <a:ln>
            <a:solidFill>
              <a:srgbClr val="1B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README.md</a:t>
            </a:r>
          </a:p>
          <a:p>
            <a:pPr>
              <a:defRPr sz="1050">
                <a:solidFill>
                  <a:srgbClr val="D2E1E8"/>
                </a:solidFill>
              </a:defRPr>
            </a:pPr>
            <a:r>
              <a:t>Project explanation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886200"/>
            <a:ext cx="2514600" cy="1143000"/>
          </a:xfrm>
          <a:prstGeom prst="roundRect">
            <a:avLst/>
          </a:prstGeom>
          <a:solidFill>
            <a:srgbClr val="233D54"/>
          </a:solidFill>
          <a:ln>
            <a:solidFill>
              <a:srgbClr val="1CA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406908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Source Code</a:t>
            </a:r>
          </a:p>
          <a:p>
            <a:pPr>
              <a:defRPr sz="1050">
                <a:solidFill>
                  <a:srgbClr val="D2E1E8"/>
                </a:solidFill>
              </a:defRPr>
            </a:pPr>
            <a:r>
              <a:t>ESP32 / Arduino firmware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3886200"/>
            <a:ext cx="2514600" cy="1143000"/>
          </a:xfrm>
          <a:prstGeom prst="roundRect">
            <a:avLst/>
          </a:prstGeom>
          <a:solidFill>
            <a:srgbClr val="233D54"/>
          </a:solidFill>
          <a:ln>
            <a:solidFill>
              <a:srgbClr val="2A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06908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Images</a:t>
            </a:r>
          </a:p>
          <a:p>
            <a:pPr>
              <a:defRPr sz="1050">
                <a:solidFill>
                  <a:srgbClr val="D2E1E8"/>
                </a:solidFill>
              </a:defRPr>
            </a:pPr>
            <a:r>
              <a:t>Hardware &amp; dashboard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999" y="3886200"/>
            <a:ext cx="2514600" cy="1143000"/>
          </a:xfrm>
          <a:prstGeom prst="roundRect">
            <a:avLst/>
          </a:prstGeom>
          <a:solidFill>
            <a:srgbClr val="233D54"/>
          </a:solidFill>
          <a:ln>
            <a:solidFill>
              <a:srgbClr val="E1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59" y="406908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PPT / PDF</a:t>
            </a:r>
          </a:p>
          <a:p>
            <a:pPr>
              <a:defRPr sz="1050">
                <a:solidFill>
                  <a:srgbClr val="D2E1E8"/>
                </a:solidFill>
              </a:defRPr>
            </a:pPr>
            <a:r>
              <a:t>Interview-ready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ECDD7"/>
                </a:solidFill>
              </a:defRPr>
            </a:pPr>
            <a:r>
              <a:t>Educational / engineering-development project. Final field installation requires correctly rated protection, isolation and professional electrical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A42"/>
                </a:solidFill>
                <a:latin typeface="Aptos Display"/>
              </a:defRPr>
            </a:pPr>
            <a:r>
              <a:t>12. GitHub Project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D"/>
                </a:solidFill>
                <a:latin typeface="Aptos"/>
              </a:defRPr>
            </a:pPr>
            <a:r>
              <a:t>The project is documented and organized as a complete engineering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7543800" cy="507492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FC620E1B-9287-4A8F-A934-C40F428451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85" y="1417320"/>
            <a:ext cx="3531869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34440"/>
            <a:ext cx="3246120" cy="5074920"/>
          </a:xfrm>
          <a:prstGeom prst="roundRect">
            <a:avLst/>
          </a:prstGeom>
          <a:solidFill>
            <a:srgbClr val="F2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A42"/>
                </a:solidFill>
                <a:latin typeface="Aptos"/>
              </a:defRPr>
            </a:pPr>
            <a:r>
              <a:t>Repository 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148840"/>
            <a:ext cx="2606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• README.md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• ESP32 firmware (.ino)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• Hardware wiring documentation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• Blynk virtual-pin documentation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• Test plan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• Required libraries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• Changelog &amp; contribution files</a:t>
            </a:r>
          </a:p>
          <a:p>
            <a:pPr>
              <a:spcAft>
                <a:spcPts val="800"/>
              </a:spcAft>
              <a:defRPr sz="1350">
                <a:solidFill>
                  <a:srgbClr val="232D37"/>
                </a:solidFill>
                <a:latin typeface="Aptos"/>
              </a:defRPr>
            </a:pPr>
            <a:r>
              <a:t>• MIT 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5440680"/>
            <a:ext cx="2606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B67A3"/>
                </a:solidFill>
                <a:latin typeface="Aptos"/>
              </a:defRPr>
            </a:pPr>
            <a:r>
              <a:t>GitHub repository: Smart_Motor_WaterPump_Automation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47104"/>
            <a:ext cx="1097280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