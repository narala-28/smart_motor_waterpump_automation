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685800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822960"/>
            <a:ext cx="2560320" cy="128016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0" y="1078992"/>
            <a:ext cx="1737360" cy="128016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7040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SMART WATER PUMP</a:t>
            </a:r>
            <a:br/>
            <a:r>
              <a:t>AUTOMATION SYSTEM</a:t>
            </a:r>
          </a:p>
          <a:p>
            <a:pPr>
              <a:spcBef>
                <a:spcPts val="1200"/>
              </a:spcBef>
              <a:defRPr sz="2000">
                <a:solidFill>
                  <a:srgbClr val="B1E5ED"/>
                </a:solidFill>
              </a:defRPr>
            </a:pPr>
            <a:r>
              <a:t>ESP32 + Blynk IoT</a:t>
            </a:r>
          </a:p>
          <a:p>
            <a:pPr>
              <a:spcBef>
                <a:spcPts val="600"/>
              </a:spcBef>
              <a:defRPr sz="1400">
                <a:solidFill>
                  <a:srgbClr val="D7E1EB"/>
                </a:solidFill>
              </a:defRPr>
            </a:pPr>
            <a:r>
              <a:t>Automated 2 HP &amp; 6 HP Pump Control • Monitoring • Protection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170432" cy="384048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4160520"/>
            <a:ext cx="1170432" cy="384048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160520"/>
            <a:ext cx="1170432" cy="384048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4160520"/>
            <a:ext cx="1170432" cy="384048"/>
          </a:xfrm>
          <a:prstGeom prst="round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60520"/>
            <a:ext cx="1170432" cy="384048"/>
          </a:xfrm>
          <a:prstGeom prst="round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SC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Narala Heshma Sree</a:t>
            </a:r>
          </a:p>
          <a:p>
            <a:pPr>
              <a:defRPr sz="1250">
                <a:solidFill>
                  <a:srgbClr val="C8D7E1"/>
                </a:solidFill>
              </a:defRPr>
            </a:pPr>
            <a:r>
              <a:t>B.Tech – Electrical &amp; Electronics Engineering | SRM Institute of Science and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2514600" cy="530352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06040"/>
            <a:ext cx="2514600" cy="530352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2514600" cy="530352"/>
          </a:xfrm>
          <a:prstGeom prst="round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160520"/>
            <a:ext cx="2514600" cy="530352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01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From sensor inputs to cloud-based motor supervision.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69164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8580" cy="169164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SMART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Automates and remotely monitors 2 HP and 6 HP water pumps.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691640"/>
          </a:xfrm>
          <a:prstGeom prst="roundRect">
            <a:avLst/>
          </a:prstGeom>
          <a:solidFill>
            <a:srgbClr val="F3EB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8580" cy="1691640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ESP32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Executes motor-control, sensing, timing and protection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1691640"/>
          </a:xfrm>
          <a:prstGeom prst="roundRect">
            <a:avLst/>
          </a:prstGeom>
          <a:solidFill>
            <a:srgbClr val="E8F8ED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8580" cy="1691640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BLYNK 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92807"/>
            <a:ext cx="31089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Provides live status, current, runtime, mode and fault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1417320" cy="384048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657600"/>
            <a:ext cx="1417320" cy="384048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657600"/>
            <a:ext cx="1600200" cy="384048"/>
          </a:xfrm>
          <a:prstGeom prst="round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657600"/>
            <a:ext cx="1417320" cy="384048"/>
          </a:xfrm>
          <a:prstGeom prst="round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RELAYS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657600"/>
            <a:ext cx="1554480" cy="384048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MOTORS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3657600"/>
            <a:ext cx="914400" cy="384048"/>
          </a:xfrm>
          <a:prstGeom prst="round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720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D39"/>
                </a:solidFill>
                <a:latin typeface="Aptos"/>
              </a:defRPr>
            </a:pPr>
            <a:r>
              <a:t>• Automatic / Manual operation</a:t>
            </a:r>
          </a:p>
          <a:p>
            <a:pPr>
              <a:spcAft>
                <a:spcPts val="800"/>
              </a:spcAft>
              <a:defRPr sz="1500">
                <a:solidFill>
                  <a:srgbClr val="222D39"/>
                </a:solidFill>
                <a:latin typeface="Aptos"/>
              </a:defRPr>
            </a:pPr>
            <a:r>
              <a:t>• Tank and sump level supervision</a:t>
            </a:r>
          </a:p>
          <a:p>
            <a:pPr>
              <a:spcAft>
                <a:spcPts val="800"/>
              </a:spcAft>
              <a:defRPr sz="1500">
                <a:solidFill>
                  <a:srgbClr val="222D39"/>
                </a:solidFill>
                <a:latin typeface="Aptos"/>
              </a:defRPr>
            </a:pPr>
            <a:r>
              <a:t>• Current-based over-current and dry-run protection</a:t>
            </a:r>
          </a:p>
          <a:p>
            <a:pPr>
              <a:spcAft>
                <a:spcPts val="800"/>
              </a:spcAft>
              <a:defRPr sz="1500">
                <a:solidFill>
                  <a:srgbClr val="222D39"/>
                </a:solidFill>
                <a:latin typeface="Aptos"/>
              </a:defRPr>
            </a:pPr>
            <a:r>
              <a:t>• Runtime, startup and restart management</a:t>
            </a:r>
          </a:p>
          <a:p>
            <a:pPr>
              <a:spcAft>
                <a:spcPts val="800"/>
              </a:spcAft>
              <a:defRPr sz="1500">
                <a:solidFill>
                  <a:srgbClr val="222D39"/>
                </a:solidFill>
                <a:latin typeface="Aptos"/>
              </a:defRPr>
            </a:pPr>
            <a:r>
              <a:t>• Remote monitoring and event 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02  | 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Engineering goals addressed by the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160020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8580" cy="160020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96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REMOTE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Start/stop motors through the IoT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429000" cy="1600200"/>
          </a:xfrm>
          <a:prstGeom prst="roundRect">
            <a:avLst/>
          </a:prstGeom>
          <a:solidFill>
            <a:srgbClr val="E4F8F9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68580" cy="160020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996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AUTO OPERATION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385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Use tank and sump conditions for motor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71600"/>
            <a:ext cx="3429000" cy="1600200"/>
          </a:xfrm>
          <a:prstGeom prst="roundRect">
            <a:avLst/>
          </a:prstGeom>
          <a:solidFill>
            <a:srgbClr val="FCEBE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71600"/>
            <a:ext cx="68580" cy="1600200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4996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385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Detect over-current, dry-run and unsafe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429000" cy="1600200"/>
          </a:xfrm>
          <a:prstGeom prst="roundRect">
            <a:avLst/>
          </a:prstGeom>
          <a:solidFill>
            <a:srgbClr val="E8F8ED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68580" cy="1600200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570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959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Display current, status, runtime and last fault.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29000"/>
            <a:ext cx="3429000" cy="1600200"/>
          </a:xfrm>
          <a:prstGeom prst="roundRect">
            <a:avLst/>
          </a:prstGeom>
          <a:solidFill>
            <a:srgbClr val="F3EB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429000"/>
            <a:ext cx="68580" cy="1600200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570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CONNECTED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959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Maintain Wi-Fi/Blynk communication.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429000"/>
            <a:ext cx="3429000" cy="1600200"/>
          </a:xfrm>
          <a:prstGeom prst="roundRect">
            <a:avLst/>
          </a:prstGeom>
          <a:solidFill>
            <a:srgbClr val="FFF4E1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429000"/>
            <a:ext cx="68580" cy="1600200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55701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03A"/>
                </a:solidFill>
                <a:latin typeface="Aptos"/>
              </a:defRPr>
            </a:pPr>
            <a:r>
              <a:t>SERVICE FLEXIBILITY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95928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22D39"/>
                </a:solidFill>
                <a:latin typeface="Aptos"/>
              </a:defRPr>
            </a:pPr>
            <a:r>
              <a:t>Controlled bypass options for testing/service.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9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03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A connected control loop between sensors, ESP32, protection and the Blynk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2971800" cy="914400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ESP32 DEVKIT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43000"/>
            <a:ext cx="2971800" cy="640080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BLYNK CLOUD /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1828800" cy="822960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TANK / SUMP</a:t>
            </a:r>
            <a:br/>
            <a:r>
              <a:t>FLOATS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931920"/>
            <a:ext cx="1828800" cy="822960"/>
          </a:xfrm>
          <a:prstGeom prst="round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SCT CURRENT</a:t>
            </a:r>
            <a:br/>
            <a:r>
              <a:t>SENSORS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931920"/>
            <a:ext cx="1828800" cy="822960"/>
          </a:xfrm>
          <a:prstGeom prst="round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RELAY /</a:t>
            </a:r>
            <a:br/>
            <a:r>
              <a:t>CONTACTOR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931920"/>
            <a:ext cx="1828800" cy="822960"/>
          </a:xfrm>
          <a:prstGeom prst="round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 HP + 6 HP</a:t>
            </a:r>
            <a:br/>
            <a:r>
              <a:t>PUMPS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783080"/>
            <a:ext cx="0" cy="50292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28800" y="3200400"/>
            <a:ext cx="3291840" cy="73152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754880" y="3200400"/>
            <a:ext cx="1005840" cy="73152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3200400"/>
            <a:ext cx="1828800" cy="73152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4343400"/>
            <a:ext cx="640080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508760"/>
            <a:ext cx="2103120" cy="384048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Wi-Fi / IoT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04  |  HARDWARE &amp;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Technology stack used in the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25196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8580" cy="425196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7"/>
            <a:ext cx="502920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22D39"/>
                </a:solidFill>
                <a:latin typeface="Aptos"/>
              </a:defRPr>
            </a:pPr>
            <a:r>
              <a:t>ESP32 DevKit V1</a:t>
            </a:r>
            <a:br/>
            <a:r>
              <a:t>SCT current sensors ×2</a:t>
            </a:r>
            <a:br/>
            <a:r>
              <a:t>Float switches ×4</a:t>
            </a:r>
            <a:br/>
            <a:r>
              <a:t>Relay interface</a:t>
            </a:r>
            <a:br/>
            <a:r>
              <a:t>Motor contactors</a:t>
            </a:r>
            <a:br/>
            <a:r>
              <a:t>Wi-Fi router</a:t>
            </a:r>
            <a:br/>
            <a:r>
              <a:t>2 HP &amp; 6 HP pumps</a:t>
            </a:r>
            <a:br/>
            <a:r>
              <a:t>Isolated low-voltage control supply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251960"/>
          </a:xfrm>
          <a:prstGeom prst="roundRect">
            <a:avLst/>
          </a:prstGeom>
          <a:solidFill>
            <a:srgbClr val="E4F8F9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8580" cy="425196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SOFTWARE / FIRMWARE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92807"/>
            <a:ext cx="502920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22D39"/>
                </a:solidFill>
                <a:latin typeface="Aptos"/>
              </a:defRPr>
            </a:pPr>
            <a:r>
              <a:t>Arduino IDE</a:t>
            </a:r>
            <a:br/>
            <a:r>
              <a:t>Embedded C++</a:t>
            </a:r>
            <a:br/>
            <a:r>
              <a:t>ESP32 Arduino core</a:t>
            </a:r>
            <a:br/>
            <a:r>
              <a:t>Blynk IoT</a:t>
            </a:r>
            <a:br/>
            <a:r>
              <a:t>EmonLib for RMS current</a:t>
            </a:r>
            <a:br/>
            <a:r>
              <a:t>BlynkTimer</a:t>
            </a:r>
            <a:br/>
            <a:r>
              <a:t>Virtual pins for dashboard control/status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05  |  MOTOR AUTOMATION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Automatic operating sequence for both pumps.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29768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8580" cy="429768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2 HP PUMP —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7"/>
            <a:ext cx="50292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>
                <a:solidFill>
                  <a:srgbClr val="222D39"/>
                </a:solidFill>
                <a:latin typeface="Aptos"/>
              </a:defRPr>
            </a:pPr>
            <a:r>
              <a:t>TANK LOW</a:t>
            </a:r>
            <a:br/>
            <a:r>
              <a:t>↓</a:t>
            </a:r>
            <a:br/>
            <a:r>
              <a:t>START 2 HP</a:t>
            </a:r>
            <a:br/>
            <a:r>
              <a:t>↓</a:t>
            </a:r>
            <a:br/>
            <a:r>
              <a:t>MONITOR CURRENT + PROTECTION</a:t>
            </a:r>
            <a:br/>
            <a:r>
              <a:t>↓</a:t>
            </a:r>
            <a:br/>
            <a:r>
              <a:t>TANK FULL</a:t>
            </a:r>
            <a:br/>
            <a:r>
              <a:t>↓</a:t>
            </a:r>
            <a:br/>
            <a:r>
              <a:t>STOP</a:t>
            </a:r>
            <a:br/>
            <a:br/>
            <a:r>
              <a:t>Trips: Over Current • Dry Run • Sump Dry • Maximum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297680"/>
          </a:xfrm>
          <a:prstGeom prst="roundRect">
            <a:avLst/>
          </a:prstGeom>
          <a:solidFill>
            <a:srgbClr val="E8F8ED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8580" cy="4297680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6 HP PUMP —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92807"/>
            <a:ext cx="50292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>
                <a:solidFill>
                  <a:srgbClr val="222D39"/>
                </a:solidFill>
                <a:latin typeface="Aptos"/>
              </a:defRPr>
            </a:pPr>
            <a:r>
              <a:t>SUMP DRY + NOT FULL</a:t>
            </a:r>
            <a:br/>
            <a:r>
              <a:t>↓</a:t>
            </a:r>
            <a:br/>
            <a:r>
              <a:t>START 6 HP</a:t>
            </a:r>
            <a:br/>
            <a:r>
              <a:t>↓</a:t>
            </a:r>
            <a:br/>
            <a:r>
              <a:t>MONITOR CURRENT + PROTECTION</a:t>
            </a:r>
            <a:br/>
            <a:r>
              <a:t>↓</a:t>
            </a:r>
            <a:br/>
            <a:r>
              <a:t>SUMP FULL</a:t>
            </a:r>
            <a:br/>
            <a:r>
              <a:t>↓</a:t>
            </a:r>
            <a:br/>
            <a:r>
              <a:t>STOP</a:t>
            </a:r>
            <a:br/>
            <a:br/>
            <a:r>
              <a:t>Trips: Over Current • Dry Run • Maximum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06  |  PROTECTION &amp;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Configured firmware values — verify against actual motor, sensor calibration and field protection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7043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70432"/>
            <a:ext cx="68580" cy="438912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OVER-CURRENT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13.0 A   |   Configured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55648"/>
            <a:ext cx="68580" cy="438912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83664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22576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1.0 A   |   Current-based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40864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340864"/>
            <a:ext cx="68580" cy="438912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STARTUP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07792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10 s   |   Protection delay after 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68580" cy="438912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54096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OC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3 s   |   Condition must persist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11296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511296"/>
            <a:ext cx="68580" cy="438912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39312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DRY-RUN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78224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10 s   |   Condition must persist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9651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096512"/>
            <a:ext cx="68580" cy="438912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2452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RESTART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5 s   |   Prevents immediate restart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81728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681728"/>
            <a:ext cx="68580" cy="438912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09744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NORMAL MAX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48656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15 min   |   Normal firmware setting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66944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266944"/>
            <a:ext cx="68580" cy="438912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94960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03A"/>
                </a:solidFill>
                <a:latin typeface="Aptos"/>
              </a:defRPr>
            </a:pPr>
            <a:r>
              <a:t>TEST MAX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33872"/>
            <a:ext cx="1046988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22D39"/>
                </a:solidFill>
                <a:latin typeface="Aptos"/>
              </a:defRPr>
            </a:pPr>
            <a:r>
              <a:t>50 s   |   Controlled bench testing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07  |  CURRENT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RMS current measurement with filtering and protection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4297680"/>
          </a:xfrm>
          <a:prstGeom prst="roundRect">
            <a:avLst/>
          </a:prstGeom>
          <a:solidFill>
            <a:srgbClr val="FFF4E1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8580" cy="4297680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7"/>
            <a:ext cx="310896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D39"/>
                </a:solidFill>
                <a:latin typeface="Aptos"/>
              </a:defRPr>
            </a:pPr>
            <a:r>
              <a:t>GPIO 34 → 2 HP current</a:t>
            </a:r>
            <a:br/>
            <a:r>
              <a:t>GPIO 35 → 6 HP current</a:t>
            </a:r>
            <a:br/>
            <a:br/>
            <a:r>
              <a:t>SCT current sensors feed ESP32 ADC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297680"/>
          </a:xfrm>
          <a:prstGeom prst="roundRect">
            <a:avLst/>
          </a:prstGeom>
          <a:solidFill>
            <a:srgbClr val="E4F8F9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8580" cy="429768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10896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D39"/>
                </a:solidFill>
                <a:latin typeface="Aptos"/>
              </a:defRPr>
            </a:pPr>
            <a:r>
              <a:t>EmonLib RMS calculation</a:t>
            </a:r>
            <a:br/>
            <a:r>
              <a:t>↓</a:t>
            </a:r>
            <a:br/>
            <a:r>
              <a:t>Noise suppression</a:t>
            </a:r>
            <a:br/>
            <a:r>
              <a:t>↓</a:t>
            </a:r>
            <a:br/>
            <a:r>
              <a:t>Low-pass filtering</a:t>
            </a:r>
            <a:br/>
            <a:r>
              <a:t>↓</a:t>
            </a:r>
            <a:br/>
            <a:r>
              <a:t>Threshold comparison</a:t>
            </a:r>
            <a:br/>
            <a:r>
              <a:t>↓</a:t>
            </a:r>
            <a:br/>
            <a:r>
              <a:t>Time confirmation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4297680"/>
          </a:xfrm>
          <a:prstGeom prst="roundRect">
            <a:avLst/>
          </a:prstGeom>
          <a:solidFill>
            <a:srgbClr val="F3EB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8580" cy="4297680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53895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92807"/>
            <a:ext cx="310896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D39"/>
                </a:solidFill>
                <a:latin typeface="Aptos"/>
              </a:defRPr>
            </a:pPr>
            <a:r>
              <a:t>Live current values</a:t>
            </a:r>
            <a:br/>
            <a:r>
              <a:t>Motor status</a:t>
            </a:r>
            <a:br/>
            <a:r>
              <a:t>Runtime</a:t>
            </a:r>
            <a:br/>
            <a:r>
              <a:t>Last fault/status</a:t>
            </a:r>
            <a:br/>
            <a:br/>
            <a:r>
              <a:t>All presented through the Blynk IoT interface.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08  |  HARDWARE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Actual motor control panel and ESP32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760720" cy="51663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B6F594BC-1B8F-4B7E-8D32-F0E7B54CEE6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47" y="1353312"/>
            <a:ext cx="360045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325880"/>
            <a:ext cx="4892040" cy="1965960"/>
          </a:xfrm>
          <a:prstGeom prst="roundRect">
            <a:avLst/>
          </a:prstGeom>
          <a:solidFill>
            <a:srgbClr val="FCEEEE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325880"/>
            <a:ext cx="68580" cy="1965960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53895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MOTOR CONTROL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92807"/>
            <a:ext cx="45720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D39"/>
                </a:solidFill>
                <a:latin typeface="Aptos"/>
              </a:defRPr>
            </a:pPr>
            <a:r>
              <a:t>Three-phase motor/control section, contactor, control wiring and supply section.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566160"/>
            <a:ext cx="4892040" cy="196596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566160"/>
            <a:ext cx="68580" cy="196596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69417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ESP32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33087"/>
            <a:ext cx="45720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D39"/>
                </a:solidFill>
                <a:latin typeface="Aptos"/>
              </a:defRPr>
            </a:pPr>
            <a:r>
              <a:t>Low-voltage relay/control wiring and current-sensing interface used for functional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5806440"/>
            <a:ext cx="1920240" cy="384048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REAL HARDWARE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806440"/>
            <a:ext cx="2057400" cy="384048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FUNCTIONAL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09  |  BLYNK IoT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Actual project dashboard screenshots.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51663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56C31678-C9A2-4921-8372-A4613E98EE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1325880"/>
            <a:ext cx="3463290" cy="4617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20240" y="5989320"/>
            <a:ext cx="2651760" cy="384048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Dashboard — upper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486400" cy="516636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_AB087961-7762-4BE4-94D4-76FB58C3315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1325880"/>
            <a:ext cx="3463290" cy="4617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5989320"/>
            <a:ext cx="2651760" cy="384048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Dashboard —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9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10  |  DASHBOARD FUNCTIONS &amp;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What the working prototype demonstrates.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06040" cy="1417320"/>
          </a:xfrm>
          <a:prstGeom prst="roundRect">
            <a:avLst/>
          </a:prstGeom>
          <a:solidFill>
            <a:srgbClr val="E7F3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8580" cy="141732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AUTO /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Operating mode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06040" cy="1417320"/>
          </a:xfrm>
          <a:prstGeom prst="roundRect">
            <a:avLst/>
          </a:prstGeom>
          <a:solidFill>
            <a:srgbClr val="E4F8F9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68580" cy="141732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2 HP / 6 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385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Separate start/stop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606040" cy="1417320"/>
          </a:xfrm>
          <a:prstGeom prst="roundRect">
            <a:avLst/>
          </a:prstGeom>
          <a:solidFill>
            <a:srgbClr val="FFF4E1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68580" cy="1417320"/>
          </a:xfrm>
          <a:prstGeom prst="rect">
            <a:avLst/>
          </a:prstGeom>
          <a:solidFill>
            <a:srgbClr val="F0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385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Live current gauges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71600"/>
            <a:ext cx="2606040" cy="1417320"/>
          </a:xfrm>
          <a:prstGeom prst="roundRect">
            <a:avLst/>
          </a:prstGeom>
          <a:solidFill>
            <a:srgbClr val="E8F8ED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68580" cy="1417320"/>
          </a:xfrm>
          <a:prstGeom prst="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TANK / SUMP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385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Level-condition indication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00400"/>
            <a:ext cx="2606040" cy="1417320"/>
          </a:xfrm>
          <a:prstGeom prst="roundRect">
            <a:avLst/>
          </a:prstGeom>
          <a:solidFill>
            <a:srgbClr val="F3EB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00400"/>
            <a:ext cx="68580" cy="1417320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673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Motor runtime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200400"/>
            <a:ext cx="2606040" cy="1417320"/>
          </a:xfrm>
          <a:prstGeom prst="roundRect">
            <a:avLst/>
          </a:prstGeom>
          <a:solidFill>
            <a:srgbClr val="FCEBE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200400"/>
            <a:ext cx="68580" cy="1417320"/>
          </a:xfrm>
          <a:prstGeom prst="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FAULT /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673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Last fault/status information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00400"/>
            <a:ext cx="260604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200400"/>
            <a:ext cx="68580" cy="1417320"/>
          </a:xfrm>
          <a:prstGeom prst="rect">
            <a:avLst/>
          </a:prstGeom>
          <a:solidFill>
            <a:srgbClr val="647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BYPASS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7673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Controlled service bypasses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200400"/>
            <a:ext cx="2606040" cy="1417320"/>
          </a:xfrm>
          <a:prstGeom prst="roundRect">
            <a:avLst/>
          </a:prstGeom>
          <a:solidFill>
            <a:srgbClr val="E4F8F9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200400"/>
            <a:ext cx="68580" cy="141732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203A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767328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222D39"/>
                </a:solidFill>
                <a:latin typeface="Aptos"/>
              </a:defRPr>
            </a:pPr>
            <a:r>
              <a:t>Blynk event 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03A"/>
                </a:solidFill>
                <a:latin typeface="Aptos Display"/>
              </a:defRPr>
            </a:pPr>
            <a:r>
              <a:t>11  |  DEVELOPER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C"/>
                </a:solidFill>
                <a:latin typeface="Aptos"/>
              </a:defRPr>
            </a:pPr>
            <a:r>
              <a:t>Project documentation and portfolio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57600" cy="4434840"/>
          </a:xfrm>
          <a:prstGeom prst="roundRect">
            <a:avLst/>
          </a:prstGeom>
          <a:solidFill>
            <a:srgbClr val="F3EB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8580" cy="4434840"/>
          </a:xfrm>
          <a:prstGeom prst="rect">
            <a:avLst/>
          </a:prstGeom>
          <a:solidFill>
            <a:srgbClr val="7E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53895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333756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D39"/>
                </a:solidFill>
                <a:latin typeface="Aptos"/>
              </a:defRPr>
            </a:pPr>
            <a:r>
              <a:t>Narala Heshma Sree</a:t>
            </a:r>
            <a:br/>
            <a:br/>
            <a:r>
              <a:t>B.Tech – Electrical &amp; Electronics Engineering</a:t>
            </a:r>
            <a:br/>
            <a:r>
              <a:t>SRM Institute of Science and Technology</a:t>
            </a:r>
            <a:br/>
            <a:br/>
            <a:r>
              <a:t>Embedded C++</a:t>
            </a:r>
            <a:br/>
            <a:r>
              <a:t>ESP32</a:t>
            </a:r>
            <a:br/>
            <a:r>
              <a:t>IoT / Blynk</a:t>
            </a:r>
            <a:br/>
            <a:r>
              <a:t>Electrical automation</a:t>
            </a:r>
            <a:br/>
            <a:r>
              <a:t>Motor protection</a:t>
            </a:r>
            <a:br/>
            <a:r>
              <a:t>Sensor interfacing</a:t>
            </a:r>
            <a:br/>
            <a:r>
              <a:t>Relay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6995160" cy="4434840"/>
          </a:xfrm>
          <a:prstGeom prst="roundRect">
            <a:avLst/>
          </a:prstGeom>
          <a:solidFill>
            <a:srgbClr val="F6F9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FC620E1B-9287-4A8F-A934-C40F428451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55" y="1463040"/>
            <a:ext cx="3051810" cy="40690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0" y="5532120"/>
            <a:ext cx="2743200" cy="384048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12  | 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400800" cy="3383280"/>
          </a:xfrm>
          <a:prstGeom prst="roundRect">
            <a:avLst/>
          </a:prstGeom>
          <a:solidFill>
            <a:srgbClr val="1C374E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8580" cy="3383280"/>
          </a:xfrm>
          <a:prstGeom prst="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53895"/>
            <a:ext cx="6080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03A"/>
                </a:solidFill>
                <a:latin typeface="Aptos"/>
              </a:defRPr>
            </a:pPr>
            <a:r>
              <a:t>NEXT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7"/>
            <a:ext cx="608076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EBF0"/>
                </a:solidFill>
                <a:latin typeface="Aptos"/>
              </a:defRPr>
            </a:pPr>
            <a:r>
              <a:t>Energy measurement • Power factor monitoring • Flow sensor integration</a:t>
            </a:r>
            <a:br/>
            <a:r>
              <a:t>Water consumption logging • Dedicated web dashboard • MQTT</a:t>
            </a:r>
            <a:br/>
            <a:r>
              <a:t>OTA firmware updates • GSM/4G backup • Historical cloud data</a:t>
            </a:r>
            <a:br/>
            <a:r>
              <a:t>Advanced alarm management • Improved PCB protection and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17320"/>
            <a:ext cx="3840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ADCE6"/>
                </a:solidFill>
              </a:defRPr>
            </a:pPr>
            <a:r>
              <a:t>PROJECT PORTFOLIO</a:t>
            </a:r>
          </a:p>
          <a:p>
            <a:pPr>
              <a:spcBef>
                <a:spcPts val="1000"/>
              </a:spcBef>
              <a:defRPr sz="2900" b="1">
                <a:solidFill>
                  <a:srgbClr val="FFFFFF"/>
                </a:solidFill>
              </a:defRPr>
            </a:pPr>
            <a:r>
              <a:t>Smart Water Pump</a:t>
            </a:r>
            <a:br/>
            <a:r>
              <a:t>Automation System</a:t>
            </a:r>
          </a:p>
          <a:p>
            <a:pPr>
              <a:spcBef>
                <a:spcPts val="1000"/>
              </a:spcBef>
              <a:defRPr sz="1250">
                <a:solidFill>
                  <a:srgbClr val="CDDCE6"/>
                </a:solidFill>
              </a:defRPr>
            </a:pPr>
            <a:r>
              <a:t>ESP32 • Embedded C++ • Blynk IoT • Protection •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4023360"/>
            <a:ext cx="841248" cy="384048"/>
          </a:xfrm>
          <a:prstGeom prst="round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023360"/>
            <a:ext cx="841248" cy="384048"/>
          </a:xfrm>
          <a:prstGeom prst="roundRect">
            <a:avLst/>
          </a:prstGeom>
          <a:solidFill>
            <a:srgbClr val="14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4023360"/>
            <a:ext cx="841248" cy="384048"/>
          </a:xfrm>
          <a:prstGeom prst="roundRect">
            <a:avLst/>
          </a:prstGeom>
          <a:solidFill>
            <a:srgbClr val="D2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4023360"/>
            <a:ext cx="841248" cy="384048"/>
          </a:xfrm>
          <a:prstGeom prst="roundRect">
            <a:avLst/>
          </a:prstGeom>
          <a:solidFill>
            <a:srgbClr val="37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89204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DD7"/>
                </a:solidFill>
              </a:defRPr>
            </a:pPr>
            <a:r>
              <a:t>Educational / engineering-development project.</a:t>
            </a:r>
            <a:br/>
            <a:r>
              <a:t>Final field installation requires correctly rated protection, isolation and professional electrical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46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6519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DD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